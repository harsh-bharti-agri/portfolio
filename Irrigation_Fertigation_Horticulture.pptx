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Nutrient Demand by Crop Stage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Uptake (relative %)</c:v>
                </c:pt>
              </c:strCache>
            </c:strRef>
          </c:tx>
          <c:spPr>
            <a:solidFill>
              <a:srgbClr val="2D6A4F"/>
            </a:solidFill>
            <a:ln w="3810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Seedling</c:v>
                  </c:pt>
                  <c:pt idx="1">
                    <c:v>Vegetative</c:v>
                  </c:pt>
                  <c:pt idx="2">
                    <c:v>Flowering</c:v>
                  </c:pt>
                  <c:pt idx="3">
                    <c:v>Fruit Set</c:v>
                  </c:pt>
                  <c:pt idx="4">
                    <c:v>Harvest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80</c:v>
                </c:pt>
                <c:pt idx="2">
                  <c:v>100</c:v>
                </c:pt>
                <c:pt idx="3">
                  <c:v>85</c:v>
                </c:pt>
                <c:pt idx="4">
                  <c:v>40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Uptake (relative %)</c:v>
                </c:pt>
              </c:strCache>
            </c:strRef>
          </c:tx>
          <c:spPr>
            <a:solidFill>
              <a:srgbClr val="E9C46A"/>
            </a:solidFill>
            <a:ln w="38100" cap="flat">
              <a:solidFill>
                <a:srgbClr val="E9C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Seedling</c:v>
                  </c:pt>
                  <c:pt idx="1">
                    <c:v>Vegetative</c:v>
                  </c:pt>
                  <c:pt idx="2">
                    <c:v>Flowering</c:v>
                  </c:pt>
                  <c:pt idx="3">
                    <c:v>Fruit Set</c:v>
                  </c:pt>
                  <c:pt idx="4">
                    <c:v>Harvest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60</c:v>
                </c:pt>
                <c:pt idx="2">
                  <c:v>90</c:v>
                </c:pt>
                <c:pt idx="3">
                  <c:v>100</c:v>
                </c:pt>
                <c:pt idx="4">
                  <c:v>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WUE by Irrigation Method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Use Efficiency (%)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Flood</c:v>
                  </c:pt>
                  <c:pt idx="1">
                    <c:v>Furrow</c:v>
                  </c:pt>
                  <c:pt idx="2">
                    <c:v>Overhead
Sprinkler</c:v>
                  </c:pt>
                  <c:pt idx="3">
                    <c:v>Micro
Sprinkler</c:v>
                  </c:pt>
                  <c:pt idx="4">
                    <c:v>Drip</c:v>
                  </c:pt>
                  <c:pt idx="5">
                    <c:v>Subsurface
Drip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1828800" cy="18288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Irrigation &amp;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Fertigation Technologies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Horticulture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Water and Nutrient Management for Sustainable Crop Production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Horticulture Technology Series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Water Challenges in Horticulture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47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&amp; Micro-Irrigation Systems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6426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Sprinkler &amp; Sub-Surface Irrigation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34670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4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392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Fertigation: Principles &amp; Nutrient Delivery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96512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422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Equipment &amp; Injection Systems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143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Sensors &amp; IoT Monitoring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184708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847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892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Scheduling &amp; Automation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6426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in Greenhouse Horticulture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334670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46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3392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&amp; Treatment Technologies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4096512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1422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Environmental Outcomes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Water Challenges in Horticulture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704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84048" y="23774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freshwater used by agriculture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10515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1704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532888" y="23774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grown under irrigation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10515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17043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4681728" y="23774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— drip vs flood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20840" y="105156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17043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2050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6830568" y="23774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more food needed globally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6576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drought frequency and climate variability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 and rising irrigation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runoff causing eutrophication of water bodies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higher productivity with reduced resource inputs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Drip &amp; Micro-Irrigation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delivered directly to the root zone via emitters, drippers, or micro-sprinklers at low flow rates (0.5–8 L/hr per emitter). The system operates at low pressure (0.5–2 bar), minimising evaporation and runoff.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Components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&amp; submain pipes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regulators &amp; filters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lines / lateral tubing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Emitters, drippers, misters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injectors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49240" y="1051560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116128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24728" y="11247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24728" y="14904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051560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1612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53528" y="11247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653528" y="14904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Coverage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349240" y="2240280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3500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24728" y="23134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leaf wetness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824728" y="26791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Disease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178040" y="2240280"/>
            <a:ext cx="17190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000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3528" y="23134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yield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53528" y="26791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Quality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2120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Drip Systems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212080" y="3840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drip irrigation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Subsurface drip irrigation (SDI)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Tape/T-tape for row crops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Sprinkler &amp; Sub-Surface Irrigation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Overhead Sprinklers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rainfall; used for field vegetables, orchards, and nurseries. Types include: fixed risers, rotary heads, and impact sprinklers. Distribution uniformity 75–85%.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9718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Micro-Sprinklers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 overhead watering (30–200 L/hr). Ideal for orchards and nurseries. Covers 1.5–5 m radius per head. Reduces frost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Subsurface Drip Irrigation (SDI)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Laterals buried 15–45 cm below soil surface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surface evaporation losses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interference with tillage and harvest operations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 efficiency up to 95%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weed germination at surface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life: 15–20 years with proper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Criteria: crop type, soil texture, topography, water availability, and capital budget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Fertigation: Principles &amp; Nutrient 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Fertigation?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is the application of fertilizers, soil amendments, and other water-soluble products through the irrigation system. It allows precise, timely delivery of nutrients directly to the root zone at the exact growth stage when they are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4114800" cy="260604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50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Macronutrients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5740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vegetative growth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057400" y="34930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development &amp; flowering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(K)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57400" y="40599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quality &amp; disease tolerance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4114800" cy="2606040"/>
          </a:xfrm>
          <a:prstGeom prst="roundRect">
            <a:avLst>
              <a:gd name="adj" fmla="val 350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450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&amp; Micronutrients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(Ca)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2926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wall integrity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930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(Mg)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20840" y="34930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 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599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Iron, Zinc, Mn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40599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cofactors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Fertigation Equipment &amp; Injection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Venturi Injector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1480" y="16733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pressure differential to draw liquid fertilizer into the mainline. Simple, no electricity needed. Accuracy ±10%. Suitable for small farms.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Proportional Pump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46320" y="16733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or diaphragm pump injects fertilizer proportional to water flow. High precision (±2%). Used in professional horticulture.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30632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Fertigation Controller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11480" y="36850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EC/pH monitoring with multi-channel dosing. Integrates with sensors and irrigation schedulers. Fully programmable.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09160" y="30632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0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Fertilizer Tanks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46320" y="36850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HDPE or stainless tanks for A+B concentrate stock solutions. Separate tanks prevent precipitation of incompatible nutrients.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274320" y="46451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inject fertilizer at the downstream side of filtration and upstream of the irrigation zone.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Moisture Sensors &amp; IoT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Technologies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Tensiometer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5179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soil water tension (kPa); direct measurement of plant-available water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2140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(FDR/TDR)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1762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dielectric permittivity; accurate volumetric water content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7977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7977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Probe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8346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moisture measurement; high accuracy but regulated 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3814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3814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Matrix Sensor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4930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Gypsum block type; low cost; electrical resistance method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96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Infrared/Remote Sensing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415137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temperature indicates plant water stress; field scale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00584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9728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97880" y="1097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IoT-Enabled Monitoring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257800" y="16916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 nodes (LoRa, Zigbee, Wi-Fi)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to cloud dashboards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via SMS/email on threshold breach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Multi-depth sensor arrays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weather station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irrigation trigger on soil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for crop water use analysis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Scheduling &amp; Automation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weather, crop stage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572768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5960" y="1051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6596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011680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Calculation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11680" y="1920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Evapotranspiration (FAO-56)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57276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03320" y="1051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0332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749040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49040" y="1920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 balance model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572768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40680" y="1051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44068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486400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0" y="1920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&amp; pump actuation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72768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78040" y="1051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178040" y="1051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223760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Adjust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223760" y="1920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optimization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65760" y="2578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Technologies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274320" y="303580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84048" y="3081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Systems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920240" y="3081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control for large irrigation schemes; real-time remote monitoring and control of multiple zones.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709160" y="303580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4818888" y="3081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Rate Irrigation (VRI)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355080" y="3081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Zone-by-zone control of sprinkler application rates based on soil variability maps and prescription files.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274320" y="385876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384048" y="3904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Decision Support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920240" y="3904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predict crop water demand using historical data, weather forecasts, and satellite imagery.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709160" y="385876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4818888" y="3904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Controllers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355080" y="3904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ET-based controllers adjust schedules daily based on local weather station or ET satellite data feeds.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Fertigation in Greenhouse Horticulture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Soilless / Hydroponic Growing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64592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27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(Nutrient Film Technique)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1527048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film of solution flows over roots in channels. Low water use. Common for leafy greens and herbs.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450592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Water Culture (DWC)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suspended in aerated nutrient solution. Fast growth. Used for lettuce, basil.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55264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55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363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Rockwool / Substrate Culture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29000" y="3136392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 substrate in slabs or blocks. High-value crops: tomato, pepper, cucumber. EC-controlled fertigation.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8595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059936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Aeroponics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29000" y="3941064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mist applied to bare roots. Highest oxygenation. Used in vertical farms and research.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 &amp; pH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EC 1.5–4.0 mS/cm; pH 5.5–6.5 for optimal nutrient uptake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Nutrient Solution Management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2926080"/>
          </a:xfrm>
          <a:prstGeom prst="roundRect">
            <a:avLst>
              <a:gd name="adj" fmla="val 312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097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Practices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97880" y="1572768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EC and pH daily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stock solution A+B separation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formulation by growth stage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analyse leachate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Recirculate drainage in closed systems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system periodically to prevent salt buildup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4069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Nutrient Disorders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44622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Deficiencies appear as: chlorosis (Fe, Mg), tip burn (Ca), blossom end rot (Ca in tomato). Toxicities cause leaf scorch and reduced uptake of antagonistic ions. Regular tissue testing prevents both.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&amp; Treatment Technologies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Parameters Critical for Irrigation &amp; Fertigation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463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Exceeded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110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19110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6.0–7.0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9110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clogging, nutrient lock-out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(salinity)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23500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0.75 dS/m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2350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stress, ion toxicity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52344"/>
            <a:ext cx="8595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(Ca+Mg)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51760" y="27889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mg/L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788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 precipitation, emitter clogging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191256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(Na)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51760" y="32278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 mg/L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3227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structure degradation, leaf burn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85953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51760" y="366674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140 mg/L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9160" y="36667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Toxicity, especially to tree fruits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056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Iron/Manganese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51760" y="41056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mg/L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09160" y="41056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clogging, filter fouling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55371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Options: Sand filtration → Disc filters → UV disinfection → Reverse osmosis → Acid/alkali dosing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Fertigation Program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0" cy="694944"/>
          </a:xfrm>
          <a:prstGeom prst="roundRect">
            <a:avLst>
              <a:gd name="adj" fmla="val 92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914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&amp; Water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39903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soil test (N-P-K, pH, EC, organic matter). Source water analysis for existing ions. Identifies what NOT to add.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8595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37944"/>
            <a:ext cx="914400" cy="694944"/>
          </a:xfrm>
          <a:prstGeom prst="roundRect">
            <a:avLst>
              <a:gd name="adj" fmla="val 921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37944"/>
            <a:ext cx="914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18836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Nutrient Requirements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1854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crop-specific nutrient uptake tables. Account for expected yield target. Split nutrients across growth stages.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8595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24328"/>
            <a:ext cx="914400" cy="694944"/>
          </a:xfrm>
          <a:prstGeom prst="roundRect">
            <a:avLst>
              <a:gd name="adj" fmla="val 9211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24328"/>
            <a:ext cx="914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Fertilizer Rates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29718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cations/anions in solution. Avoid incompatibilities (Ca+SO4, Ca+PO4). Use software (e.g. Haifa Fertigation App, FertiCalc).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10712"/>
            <a:ext cx="8595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0712"/>
            <a:ext cx="914400" cy="694944"/>
          </a:xfrm>
          <a:prstGeom prst="roundRect">
            <a:avLst>
              <a:gd name="adj" fmla="val 921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914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Applications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375818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fertigation events to irrigation cycles. Inject in the middle third of irrigation to avoid salt accumulation near emitters.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85953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97096"/>
            <a:ext cx="914400" cy="694944"/>
          </a:xfrm>
          <a:prstGeom prst="roundRect">
            <a:avLst>
              <a:gd name="adj" fmla="val 9211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97096"/>
            <a:ext cx="914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&amp; Refine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45445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and soil tests every 2–4 weeks. Adjust concentrations based on growth observations and leachate EC/pH readings.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Sensing &amp; Precision Agriculture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remote sensing with irrigation enables zone-specific water and nutrient management, reducing waste and improving uniformity across large horticultural plots.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385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Imagery (NDVI)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1480" y="24231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Difference Vegetation Index detects crop stress, canopy cover and vigour. Sentinel-2 provides free 10m resolution data every 5 days.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8288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385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UAV / Drone Mapping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846320" y="24231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and multispectral cameras map variability at &lt;5 cm resolution. Identifies patchy irrigation coverage, nutrient deficiencies and pest outbreaks.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4290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387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Imaging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11480" y="4023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temperature mapping identifies water-stressed zones (higher temperature = less transpiration cooling). Triggers site-specific irrigation.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09160" y="34290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3872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Rate Application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846320" y="4023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maps from remote sensing data drive VRI systems and fertigation zones, applying exactly what each area needs.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Use Efficiency &amp; Economic Outcomes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Benefits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1572768"/>
            <a:ext cx="3017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30–50% fertilizer cost with fertigation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20–40% yield in vegetable crops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40–60% water costs vs flood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payback: 2–4 years for drip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labour for application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agri-chemical use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" y="3977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increases nutrient use efficiency from ~50% (broadcast) to &gt;90%, delivering major cost savings.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Sustainability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Nutrient Runoff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0" y="1097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N leaching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6733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application means less nitrogen and phosphorus leaching into waterways. Protects aquatic ecosystems from eutrophication.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Carbon Footprint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909560" y="1097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saving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16733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pumping energy (lower pressure drip vs sprinklers). Reduced fertilizer manufacture from lower input rates.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9718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08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Groundwater Conservation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7472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saved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11480" y="35935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irrigation reduces aquifer depletion. Sub-surface drip and soil-moisture-based scheduling are especially effective.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Health Preservation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90956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structure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0" y="35935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waterlogging maintains aerobic soil conditions. Reduced salt accumulation through controlled application.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6 (Clean Water) &amp; SDG 2 (Zero Hunger) — Precision irrigation and fertigation directly advance both goals.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Studies: Real-World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— Avocado Orchards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1064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Subsurface drip + fertigation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51760" y="1435608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water saving vs surface; 25% yield increase; fertigation reduced N input by 35% while maintaining fruit quality.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39112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8483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— Glasshouse Tomatoes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0939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Rockwool substrate + closed-loop fertigation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discharge system recirculates 100% drain water. EC-controlled dosing achieves 30 kg/m² yield. Water use &lt;15 L/kg fruit.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26664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72384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Micro-irrigation (Drip)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081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+ urea-based fertigation in sugarcane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51760" y="3410712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water savings; 15–20% yield increase; fertilizer use efficiency improved from 45% to 78% under fertigation.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014216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14216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059936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— Strawberry Plasticulture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tape under mulch + fertigation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51760" y="4398264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Season-long precise N-P-K delivery; 50% less water than overhead; reduced soil-borne disease; premium early-season yield.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097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Initial Capital Cost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" y="15727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systems: $800–$4,000/ha. Automated fertigation: $5,000–$50,000. Subsidies and amortisation over crop life needed.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0241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13385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76088" y="1097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Emitter Clogging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18888" y="15727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(sediment), chemical (precipitates), and biological (biofilm) clogging. Requires filtration, flushing, and acid dosing.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3957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054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Knowledge Gap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84048" y="29443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training on EC/pH management, nutrient solution formulation, system maintenance, and sensor interpretation.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3957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054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76088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Source Limitations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18888" y="29443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salinity or bicarbonate water reduces efficiency. Pre-treatment (RO, acidification) adds cost and complexity.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7673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77056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3840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Variability Challenges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84048" y="43159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soils cause non-uniform water distribution. Requires detailed site characterisation and zone mapping.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76732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877056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76088" y="3840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Maintenance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818888" y="43159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emitters, injection pumps, and sensors all need regular servicing. Neglect leads to rapid performance decline.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Trends in Irrigation &amp; Fertigation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43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Now–2027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Crop Models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4048" y="180136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predict crop water demand with &gt;90% accuracy using real-time satellite + sensor fusion.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1430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767328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Nano-Fertigation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10128" y="180136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Nano-encapsulated nutrients with controlled-release coatings applied via irrigation for ultra-precise delivery.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5156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430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2026–2030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693408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36208" y="180136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farm replicas simulate water-nutrient dynamics, enabling predictive management and scenario planning.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01752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089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41248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Robots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384048" y="376732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irrigation robots with on-board sensors and drippers apply water crop-by-crop in protected horticulture.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301752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10896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2025–2030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767328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Biostimulant Fertigation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310128" y="376732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Seaweed extracts, humic acids, and microbial inoculants delivered via fertigation to enhance nutrient uptake.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301752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2D6A4F">
              <a:alpha val="85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1089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93408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693408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Water Systems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236208" y="376732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wetlands + treated wastewater + biochar filtration create closed loops for nutrient and water recovery.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474720"/>
            <a:ext cx="4572000" cy="45720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01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9326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and micro-irrigation are the most water-efficient systems, achieving 90–95% WUE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040" y="1591056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55064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62763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Fertigation improves nutrient use efficiency from ~50% to &gt;90%, cutting fertilizer costs by 30–50%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0040" y="2286000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35000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32257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automation, and AI scheduling are transforming irrigation from reactive to predictive management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20040" y="2980944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44952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0175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fertigation with closed-loop nutrient solutions achieves near-zero waste and maximum yield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320040" y="3675888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739896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37124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 directly advances food security and environmental sustainability goals (SDG 2, 6)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320040" y="4370832"/>
            <a:ext cx="475488" cy="47548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434840"/>
            <a:ext cx="347472" cy="3474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" y="44074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lies in integrated digital platforms combining sensors, AI, remote sensing, and robotics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"Grow more with less — precision water and nutrient management is the cornerstone of sustainable horticulture."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Irrigation and Fertigation Technologies in Horticulture</dc:title>
  <dc:subject>PptxGenJS Presentation</dc:subject>
  <dc:creator>PptxGenJS</dc:creator>
  <cp:lastModifiedBy>PptxGenJS</cp:lastModifiedBy>
  <cp:revision>1</cp:revision>
  <dcterms:created xsi:type="dcterms:W3CDTF">2026-06-27T07:15:38Z</dcterms:created>
  <dcterms:modified xsi:type="dcterms:W3CDTF">2026-06-27T07:15:38Z</dcterms:modified>
</cp:coreProperties>
</file>